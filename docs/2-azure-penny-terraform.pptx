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100584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Dive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</a:rPr>
              <a:t>azure-penny infrastructure — engineer's walkthrough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4069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tf files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103120" y="4069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resources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40480" y="4069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role assignments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577840" y="4069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dynamic block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315200" y="4069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outputs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663440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005A9E"/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634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 ~&gt; 4.67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48840" y="4663440"/>
            <a:ext cx="1828800" cy="219456"/>
          </a:xfrm>
          <a:prstGeom prst="roundRect">
            <a:avLst>
              <a:gd name="adj" fmla="val 25000"/>
            </a:avLst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46634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&gt;= 1.3.0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0" y="4663440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4663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~&gt; 3.5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terraform/  —  File 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39BF5"/>
                </a:solidFill>
              </a:rPr>
              <a:t>terraform/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630936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36576" cy="233172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32688"/>
            <a:ext cx="60716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110996"/>
            <a:ext cx="60716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provider + backend + resource_provider_registration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1289304"/>
            <a:ext cx="60716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all input variables with defaults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1467612"/>
            <a:ext cx="60716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# 5 outputs exposed after apply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1645920"/>
            <a:ext cx="60716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1824228"/>
            <a:ext cx="60716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resource_group.tf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azurerm_resource_group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2002536"/>
            <a:ext cx="60716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storage.tf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# storage_account + container + random_string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2180844"/>
            <a:ext cx="60716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acr.tf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# container_registry + AcrPull role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" y="2359152"/>
            <a:ext cx="60716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identity.tf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user_assigned_identity + 2 role_assignments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" y="2537460"/>
            <a:ext cx="60716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container_app.tf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log_analytics + app_environment + container_app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" y="2715768"/>
            <a:ext cx="60716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cost_export.tf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subscription_cost_management_export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" y="2894076"/>
            <a:ext cx="60716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budget_alert.tf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monitor_action_group + consumption_budget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841248"/>
            <a:ext cx="54864" cy="27432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841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9440" y="10058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azurerm_resource_provider_registration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812280" y="1188720"/>
            <a:ext cx="54864" cy="27432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resource_group.tf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0" y="135331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azurerm_resource_group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812280" y="1536192"/>
            <a:ext cx="54864" cy="274320"/>
          </a:xfrm>
          <a:prstGeom prst="rect">
            <a:avLst/>
          </a:prstGeom>
          <a:solidFill>
            <a:srgbClr val="A5D6F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536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storage.tf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9440" y="17007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azurerm_storage_account + container + random_string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812280" y="1883664"/>
            <a:ext cx="54864" cy="274320"/>
          </a:xfrm>
          <a:prstGeom prst="rect">
            <a:avLst/>
          </a:prstGeom>
          <a:solidFill>
            <a:srgbClr val="F2CC60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1883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acr.tf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0" y="20482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azurerm_container_registry + role_assignment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12280" y="2231136"/>
            <a:ext cx="54864" cy="2743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2231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identity.tf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9440" y="23957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azurerm_user_assigned_identity + 2× role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812280" y="2578608"/>
            <a:ext cx="54864" cy="274320"/>
          </a:xfrm>
          <a:prstGeom prst="rect">
            <a:avLst/>
          </a:prstGeom>
          <a:solidFill>
            <a:srgbClr val="9F6DF5"/>
          </a:solidFill>
          <a:ln w="12700">
            <a:solidFill>
              <a:srgbClr val="9F6D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2578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container_app.tf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9440" y="27432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log_analytics + app_env + container_app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812280" y="2926080"/>
            <a:ext cx="54864" cy="27432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926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cost_export.tf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49440" y="3090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azurerm_subscription_cost_management_export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12280" y="3273552"/>
            <a:ext cx="54864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budget_alert.tf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9440" y="34381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monitor_action_group + consumption_budget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0040" y="3291840"/>
            <a:ext cx="6309360" cy="15544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558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Naming convention — all resources share the same pattern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359359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${var.app_name}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${var.environment}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-rg"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azure-penny-prod-rg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39044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Storage account: </a:t>
            </a:r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replace(var.app_name, "-", "")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env + "sa" + </a:t>
            </a:r>
            <a:pPr indent="0" marL="0">
              <a:buNone/>
            </a:pPr>
            <a:r>
              <a:rPr lang="en-US" sz="9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random_string(6)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41330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azurepenny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k3x7f2</a:t>
            </a:r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(random suffix prevents global name collisions)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3708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ACR: replace(var.app_name, "-", "") + env + "acr"  →  </a:t>
            </a:r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azurepennyprodacr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455371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Container App: var.app_name + "-" + env  →  </a:t>
            </a:r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azure-penny-prod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  —  Backend · Provider · Bootstrap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39BF5"/>
                </a:solidFill>
              </a:rPr>
              <a:t>main.tf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93776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210312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47000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065276"/>
            <a:ext cx="47000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required_version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1.3.0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1243584"/>
            <a:ext cx="47000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1421892"/>
            <a:ext cx="47000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</a:t>
            </a:r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"azurerm"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1600200"/>
            <a:ext cx="47000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resource_group_name 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azure-penny-tfstate-rg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1778508"/>
            <a:ext cx="47000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storage_account_name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azurepennytf3759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1956816"/>
            <a:ext cx="47000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container_name      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tfstate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2135124"/>
            <a:ext cx="47000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                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azure-penny.tfstate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" y="2313432"/>
            <a:ext cx="47000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use_azuread_auth    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OIDC — no listKeys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" y="2491740"/>
            <a:ext cx="47000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937760" cy="3063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36576" cy="306324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081528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250692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subscription_id = 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var.subscription_id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419856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589020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features {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758184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resource_group {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3927348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prevent_deletion_if_contains_resources =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4096512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265676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key_vault {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434840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purge_soft_delete_on_destroy    =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" y="4604004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recover_soft_deleted_key_vaults =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" y="4773168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" y="4942332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" y="5111496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"azurerm_client_config"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"current"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{}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" y="5280660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" y="5449824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"azurerm_resource_provider_registration"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"app"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" y="5618988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Microsoft.App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" y="5788152"/>
            <a:ext cx="4700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40680" y="777240"/>
            <a:ext cx="3474720" cy="21031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40680" y="777240"/>
            <a:ext cx="3474720" cy="27432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0408" y="8138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Remote State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32120" y="1124712"/>
            <a:ext cx="3291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 lives in a dedicated SA (azurepennytf3759), separate from the app SA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use_azuread_auth = true → uses OIDC/Azure AD; no storage access key ever touches disk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= "azure-penny.tfstate" → path inside the tfstate container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RG (azure-penny-tfstate-rg) protects state from terraform destroy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40680" y="2971800"/>
            <a:ext cx="3474720" cy="3063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40680" y="2971800"/>
            <a:ext cx="3474720" cy="27432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0408" y="300837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Provider Flags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32120" y="3319272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prevent_deletion = false → allows terraform destroy to remove full RG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purge_soft_delete_on_destroy = true → KV cleanup on destroy (unused but safe)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data.azurerm_client_config.current → injects current subscription_id into resources without hard-coding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Microsoft.App provider registration required before Container App Environment can be created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Dependency Graph  —  terraform graph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39BF5"/>
                </a:solidFill>
              </a:rPr>
              <a:t>dependency 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</a:rPr>
              <a:t>Terraform resolves these in topological order. Explicit depends_on only where implicit refs are insufficient.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192024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521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azurerm_resource_group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"main"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1115568"/>
            <a:ext cx="210312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79C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1521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data.azurerm_client_config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14600" y="1371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"current"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115568"/>
            <a:ext cx="192024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F2CC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521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random_string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"storage_suffix"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03720" y="1115568"/>
            <a:ext cx="192024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6E76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11521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azurerm_resource_provider_registration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995160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"app"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2176272"/>
            <a:ext cx="210312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128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azurerm_user_assigned_identity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24323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"main"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06040" y="2176272"/>
            <a:ext cx="182880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A5D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22128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azurerm_storage_account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97480" y="24323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"main"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2176272"/>
            <a:ext cx="192024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2128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azurerm_container_registry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24323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"main"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12280" y="2176272"/>
            <a:ext cx="201168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azurerm_log_analytics_workspace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03720" y="2432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"main"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236976"/>
            <a:ext cx="228600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2735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azurerm_role_assignment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34930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"storage_blob_reader"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834640" y="3236976"/>
            <a:ext cx="182880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32735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azurerm_role_assignment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926080" y="34930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"acr_pull"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92040" y="3236976"/>
            <a:ext cx="192024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A5D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2735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azurerm_storage_container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83480" y="34930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"cost_exports"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040880" y="3236976"/>
            <a:ext cx="178308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32735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azurerm_container_app_environment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132320" y="34930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"main"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4297680"/>
            <a:ext cx="192024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9F6D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3342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azurerm_container_app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11480" y="45537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"main"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423160" y="4297680"/>
            <a:ext cx="237744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14600" y="43342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azurerm_subscription_cost_management_export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514600" y="4553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"daily"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029200" y="4297680"/>
            <a:ext cx="2194560" cy="512064"/>
          </a:xfrm>
          <a:prstGeom prst="rect">
            <a:avLst/>
          </a:prstGeom>
          <a:solidFill>
            <a:srgbClr val="1C2128"/>
          </a:solidFill>
          <a:ln w="19050">
            <a:solidFill>
              <a:srgbClr val="F2CC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43342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azurerm_consumption_budget_subscription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120640" y="45537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"alert"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280160" y="1627632"/>
            <a:ext cx="9144" cy="548640"/>
          </a:xfrm>
          <a:prstGeom prst="line">
            <a:avLst/>
          </a:prstGeom>
          <a:noFill/>
          <a:ln w="15240">
            <a:solidFill>
              <a:srgbClr val="9F6DF5"/>
            </a:solidFill>
            <a:prstDash val="sysDash"/>
          </a:ln>
        </p:spPr>
      </p:sp>
      <p:sp>
        <p:nvSpPr>
          <p:cNvPr id="52" name="Text 50"/>
          <p:cNvSpPr/>
          <p:nvPr/>
        </p:nvSpPr>
        <p:spPr>
          <a:xfrm>
            <a:off x="914400" y="14447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681"/>
                </a:solidFill>
              </a:rPr>
              <a:t>rg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280160" y="1627632"/>
            <a:ext cx="2240280" cy="548640"/>
          </a:xfrm>
          <a:prstGeom prst="line">
            <a:avLst/>
          </a:prstGeom>
          <a:noFill/>
          <a:ln w="15240">
            <a:solidFill>
              <a:srgbClr val="9F6DF5"/>
            </a:solidFill>
            <a:prstDash val="sysDash"/>
          </a:ln>
        </p:spPr>
      </p:sp>
      <p:sp>
        <p:nvSpPr>
          <p:cNvPr id="54" name="Shape 52"/>
          <p:cNvSpPr/>
          <p:nvPr/>
        </p:nvSpPr>
        <p:spPr>
          <a:xfrm>
            <a:off x="1371600" y="2688336"/>
            <a:ext cx="9144" cy="548640"/>
          </a:xfrm>
          <a:prstGeom prst="line">
            <a:avLst/>
          </a:prstGeom>
          <a:noFill/>
          <a:ln w="15240">
            <a:solidFill>
              <a:srgbClr val="9F6DF5"/>
            </a:solidFill>
            <a:prstDash val="sysDash"/>
          </a:ln>
        </p:spPr>
      </p:sp>
      <p:sp>
        <p:nvSpPr>
          <p:cNvPr id="55" name="Shape 53"/>
          <p:cNvSpPr/>
          <p:nvPr/>
        </p:nvSpPr>
        <p:spPr>
          <a:xfrm>
            <a:off x="1371600" y="2688336"/>
            <a:ext cx="9144" cy="548640"/>
          </a:xfrm>
          <a:prstGeom prst="line">
            <a:avLst/>
          </a:prstGeom>
          <a:noFill/>
          <a:ln w="15240">
            <a:solidFill>
              <a:srgbClr val="9F6DF5"/>
            </a:solidFill>
            <a:prstDash val="sysDash"/>
          </a:ln>
        </p:spPr>
      </p:sp>
      <p:sp>
        <p:nvSpPr>
          <p:cNvPr id="56" name="Shape 54"/>
          <p:cNvSpPr/>
          <p:nvPr/>
        </p:nvSpPr>
        <p:spPr>
          <a:xfrm>
            <a:off x="3749040" y="2688336"/>
            <a:ext cx="1874520" cy="548640"/>
          </a:xfrm>
          <a:prstGeom prst="line">
            <a:avLst/>
          </a:prstGeom>
          <a:noFill/>
          <a:ln w="15240">
            <a:solidFill>
              <a:srgbClr val="9F6DF5"/>
            </a:solidFill>
            <a:prstDash val="sysDash"/>
          </a:ln>
        </p:spPr>
      </p:sp>
      <p:sp>
        <p:nvSpPr>
          <p:cNvPr id="57" name="Shape 55"/>
          <p:cNvSpPr/>
          <p:nvPr/>
        </p:nvSpPr>
        <p:spPr>
          <a:xfrm>
            <a:off x="7818120" y="2688336"/>
            <a:ext cx="9144" cy="548640"/>
          </a:xfrm>
          <a:prstGeom prst="line">
            <a:avLst/>
          </a:prstGeom>
          <a:noFill/>
          <a:ln w="15240">
            <a:solidFill>
              <a:srgbClr val="9F6DF5"/>
            </a:solidFill>
            <a:prstDash val="sysDash"/>
          </a:ln>
        </p:spPr>
      </p:sp>
      <p:sp>
        <p:nvSpPr>
          <p:cNvPr id="58" name="Shape 56"/>
          <p:cNvSpPr/>
          <p:nvPr/>
        </p:nvSpPr>
        <p:spPr>
          <a:xfrm>
            <a:off x="1280160" y="3749040"/>
            <a:ext cx="6583680" cy="548640"/>
          </a:xfrm>
          <a:prstGeom prst="line">
            <a:avLst/>
          </a:prstGeom>
          <a:noFill/>
          <a:ln w="15240">
            <a:solidFill>
              <a:srgbClr val="9F6DF5"/>
            </a:solidFill>
            <a:prstDash val="sysDash"/>
          </a:ln>
        </p:spPr>
      </p:sp>
      <p:sp>
        <p:nvSpPr>
          <p:cNvPr id="59" name="Text 57"/>
          <p:cNvSpPr/>
          <p:nvPr/>
        </p:nvSpPr>
        <p:spPr>
          <a:xfrm>
            <a:off x="4206240" y="35661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681"/>
                </a:solidFill>
              </a:rPr>
              <a:t>depends_on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11880" y="3749040"/>
            <a:ext cx="2240280" cy="548640"/>
          </a:xfrm>
          <a:prstGeom prst="line">
            <a:avLst/>
          </a:prstGeom>
          <a:noFill/>
          <a:ln w="15240">
            <a:solidFill>
              <a:srgbClr val="9F6DF5"/>
            </a:solidFill>
            <a:prstDash val="sysDash"/>
          </a:ln>
        </p:spPr>
      </p:sp>
      <p:sp>
        <p:nvSpPr>
          <p:cNvPr id="61" name="Text 59"/>
          <p:cNvSpPr/>
          <p:nvPr/>
        </p:nvSpPr>
        <p:spPr>
          <a:xfrm>
            <a:off x="8915400" y="12527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E7681"/>
                </a:solidFill>
              </a:rPr>
              <a:t>Layer 0 — Foundation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915400" y="23134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E7681"/>
                </a:solidFill>
              </a:rPr>
              <a:t>Layer 1 — Core Resources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915400" y="33741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E7681"/>
                </a:solidFill>
              </a:rPr>
              <a:t>Layer 2 — Bindings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8915400" y="4434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E7681"/>
                </a:solidFill>
              </a:rPr>
              <a:t>Layer 3 — App + Exports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  —  All Input Variables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39BF5"/>
                </a:solidFill>
              </a:rPr>
              <a:t>variables.tf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12064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429768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"subscription_id"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4632" y="1054303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=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default =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221638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falls back to ARM_SUBSCRIPTION_ID env var (azurerm 4.x)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388974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1556309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1723644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"location"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default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eastus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1890979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"app_name"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default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2058314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"environment"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default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2225650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392985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"container_image"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560320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=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727655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"nginx:latest"</a:t>
            </a:r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overridden after first ACR push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894990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62326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229661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"budget_monthly_amount"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396996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=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default =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USD / month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564331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3731666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3899002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"tags"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066337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=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map(string)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233672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{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" y="4401007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    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" y="4568342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managed_by 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" y="4735678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0" y="777240"/>
            <a:ext cx="3200400" cy="4297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777240"/>
            <a:ext cx="3200400" cy="27432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9008" y="8138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 Notes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60720" y="1124712"/>
            <a:ext cx="301752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subscription_id = null → azurerm 4.x picks up ARM_SUBSCRIPTION_ID from env automatically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container_image defaults to nginx:latest; replace with ACR image after first docker push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map is passed to every resource via tags = var.tags — single source of truth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budget_monthly_amount drives dynamic notification thresholds in budget_alert.tf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variables — no secrets are ever stored in state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storage.tf  —  Blob Storage + Cost-Exports Container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39BF5"/>
                </a:solidFill>
              </a:rPr>
              <a:t>storage.tf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39496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429768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"random_string"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"storage_suffix"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84632" y="104698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 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upper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special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84632" y="120700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84632" y="136702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84632" y="152704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"azurerm_storage_account"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"main"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84632" y="168706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"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${replace(var.app_name, "-", "")}${var.environment}sa${random_string.storage_suffix.result}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84632" y="184708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account_tier            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"Standard"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84632" y="200710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account_replication_type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"LRS"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84632" y="216712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account_kind            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"BlobStorage"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84632" y="232714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access_tier             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"Hot"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84632" y="248716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84632" y="264718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Security hardening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84632" y="280720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min_tls_version                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"TLS1_2"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84632" y="296722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allow_nested_items_to_be_public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 public blob access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84632" y="312724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shared_access_key_enabled      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break-glass only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84632" y="328726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84632" y="344728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blob_properties {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84632" y="360730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versioning_enabled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84632" y="376732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delete_retention_policy          { days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84632" y="392734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container_delete_retention_policy { days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84632" y="408736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84632" y="424738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84632" y="440740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"azurerm_storage_container"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"cost_exports"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84632" y="456742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  = "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cost-exports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84632" y="4727448"/>
            <a:ext cx="51572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storage_account_id   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azurerm_storage_account.main.id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943600" y="777240"/>
            <a:ext cx="2926080" cy="4297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777240"/>
            <a:ext cx="2926080" cy="27432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813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Storage Design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35040" y="1124712"/>
            <a:ext cx="27432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random_string suffix → globally unique SA name without manual collision avoidance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BlobStorage kind chosen over StorageV2 — cheaper for pure blob workloads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 replication — cost exports are regeneratable, no cross-region durability needed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+ 7-day soft delete → recover accidentally overwritten export files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allow_nested_items_to_be_public = false → no accidental public blob exposure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shared_access_key_enabled = true kept for break-glass; app exclusively uses managed identity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container_access_type = private → only RBAC-granted principals can read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identity.tf  —  Managed Identity + RBAC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39BF5"/>
                </a:solidFill>
              </a:rPr>
              <a:t>identity.tf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39496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352044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"azurerm_user_assigned_identity"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"main"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057046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= </a:t>
            </a:r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"${var.app_name}-${var.environment}-identity"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1227125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= 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azurerm_resource_group.main.name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1397203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         = 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azurerm_resource_group.main.location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1567282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1737360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1907438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Storage Blob Data Reader ─────────────────────────────────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2077517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"azurerm_role_assignment"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"storage_blob_reader"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" y="2247595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scope                = 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azurerm_storage_account.main.id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" y="2417674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role_definition_name = "</a:t>
            </a:r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 Blob Data Reader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" y="2587752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principal_id         = 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azurerm_user_assigned_identity.main.principal_id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" y="2757830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" y="2927909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" y="3097987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Contributor (Subscription scope) ────────────────────────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" y="3268066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Required only for the Live view's delete-resource feature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" y="3438144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"azurerm_role_assignment"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"subscription_contributor"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" y="3608222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scope                = </a:t>
            </a:r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"/subscriptions/${data.azurerm_client_config.current.subscription_id}"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" y="3778301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role_definition_name = "</a:t>
            </a:r>
            <a:pPr indent="0" marL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Contributor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" y="3948379"/>
            <a:ext cx="51572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principal_id         = 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azurerm_user_assigned_identity.main.principal_id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841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 Model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1188720"/>
            <a:ext cx="2880360" cy="512064"/>
          </a:xfrm>
          <a:prstGeom prst="rect">
            <a:avLst/>
          </a:prstGeom>
          <a:solidFill>
            <a:srgbClr val="1A1040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2252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user_assigned_identity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35040" y="14356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azure-penny-prod-identity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83780" y="1700784"/>
            <a:ext cx="0" cy="201168"/>
          </a:xfrm>
          <a:prstGeom prst="line">
            <a:avLst/>
          </a:prstGeom>
          <a:noFill/>
          <a:ln w="12700">
            <a:solidFill>
              <a:srgbClr val="A5D6FF"/>
            </a:solidFill>
            <a:prstDash val="sysDash"/>
          </a:ln>
        </p:spPr>
      </p:sp>
      <p:sp>
        <p:nvSpPr>
          <p:cNvPr id="31" name="Shape 29"/>
          <p:cNvSpPr/>
          <p:nvPr/>
        </p:nvSpPr>
        <p:spPr>
          <a:xfrm>
            <a:off x="5943600" y="1901952"/>
            <a:ext cx="2880360" cy="512064"/>
          </a:xfrm>
          <a:prstGeom prst="rect">
            <a:avLst/>
          </a:prstGeom>
          <a:solidFill>
            <a:srgbClr val="1C2128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1938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 Blob Data Reader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35040" y="21762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azurerm_storage_account.main.id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383780" y="1700784"/>
            <a:ext cx="0" cy="1024128"/>
          </a:xfrm>
          <a:prstGeom prst="line">
            <a:avLst/>
          </a:prstGeom>
          <a:noFill/>
          <a:ln w="12700">
            <a:solidFill>
              <a:srgbClr val="D29922"/>
            </a:solidFill>
            <a:prstDash val="sysDash"/>
          </a:ln>
        </p:spPr>
      </p:sp>
      <p:sp>
        <p:nvSpPr>
          <p:cNvPr id="35" name="Shape 33"/>
          <p:cNvSpPr/>
          <p:nvPr/>
        </p:nvSpPr>
        <p:spPr>
          <a:xfrm>
            <a:off x="5943600" y="2724912"/>
            <a:ext cx="2880360" cy="512064"/>
          </a:xfrm>
          <a:prstGeom prst="rect">
            <a:avLst/>
          </a:prstGeom>
          <a:solidFill>
            <a:srgbClr val="1C212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27614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29992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/subscriptions/{id}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383780" y="1700784"/>
            <a:ext cx="0" cy="1847088"/>
          </a:xfrm>
          <a:prstGeom prst="line">
            <a:avLst/>
          </a:prstGeom>
          <a:noFill/>
          <a:ln w="12700">
            <a:solidFill>
              <a:srgbClr val="F2CC60"/>
            </a:solidFill>
            <a:prstDash val="sysDash"/>
          </a:ln>
        </p:spPr>
      </p:sp>
      <p:sp>
        <p:nvSpPr>
          <p:cNvPr id="39" name="Shape 37"/>
          <p:cNvSpPr/>
          <p:nvPr/>
        </p:nvSpPr>
        <p:spPr>
          <a:xfrm>
            <a:off x="5943600" y="3547872"/>
            <a:ext cx="2880360" cy="512064"/>
          </a:xfrm>
          <a:prstGeom prst="rect">
            <a:avLst/>
          </a:prstGeom>
          <a:solidFill>
            <a:srgbClr val="1C2128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3584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AcrPull  (acr.tf)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35040" y="38221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azurerm_container_registry.main.id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" y="4434840"/>
            <a:ext cx="8503920" cy="6858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434840"/>
            <a:ext cx="8503920" cy="27432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" y="447141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Why User-Assigned?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1480" y="47823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User-assigned identity survives Container App re-deployments / revisions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System-assigned identity would be lost if the Container App is deleted and recreated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AZURE_CLIENT_ID env var passed to container tells DefaultAzureCredential which identity to use when multiple are attached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is broad — narrow to a custom role if least-privilege is required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acr.tf  —  Azure Container Registry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39BF5"/>
                </a:solidFill>
              </a:rPr>
              <a:t>acr.tf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4864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292608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"azurerm_container_registry"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"main"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1061618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"${replace(var.app_name, "-", "")}${var.environment}acr"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1236269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= 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azurerm_resource_group.main.name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" y="1410919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         = 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azurerm_resource_group.main.location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1585570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sku                 = "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1760220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admin_enabled       = </a:t>
            </a:r>
            <a:pPr indent="0" marL="0">
              <a:buNone/>
            </a:pPr>
            <a:r>
              <a:rPr lang="en-US" sz="10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 password auth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1934870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var.tags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" y="2109521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2284171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" y="2458822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AcrPull → Container App managed identity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" y="2633472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"azurerm_role_assignment"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"acr_pull"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" y="2808122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 = 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"ee571f4c-2573-1f4e-47d7-84eebffd5be5"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" y="2982773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scope                = 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azurerm_container_registry.main.id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" y="3157423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role_definition_name = "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AcrPull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" y="3332074"/>
            <a:ext cx="524865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principal_id         = 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azurerm_user_assigned_identity.main.principal_id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777240"/>
            <a:ext cx="2834640" cy="29260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777240"/>
            <a:ext cx="2834640" cy="27432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813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ACR Design Notes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26480" y="1124712"/>
            <a:ext cx="26517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admin_enabled = false → password-based pull disabled; only RBAC authentication allowed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SKU provides geo-replication capability, content trust, and 100 GB storage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replace("-","") removes hyphens — ACR names must be alphanumeric only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GUID in name = "..." prevents Terraform from creating a duplicate role assignment on re-apply (idempotent)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AcrPull is the minimum role — allows image pulls, nothing else on the registry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az acr build -r azurepennyprodacr -t azure-penny:v1 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 SKU Comparison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133088"/>
            <a:ext cx="1261872" cy="237744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13308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81912" y="4133088"/>
            <a:ext cx="1261872" cy="237744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81912" y="413308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43784" y="4133088"/>
            <a:ext cx="1261872" cy="237744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43784" y="413308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05656" y="4133088"/>
            <a:ext cx="1261872" cy="237744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05656" y="413308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Geo-rep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67528" y="4133088"/>
            <a:ext cx="1261872" cy="237744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67528" y="413308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Trust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370832"/>
            <a:ext cx="1261872" cy="237744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37083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581912" y="4370832"/>
            <a:ext cx="1261872" cy="237744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81912" y="437083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GB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843784" y="4370832"/>
            <a:ext cx="1261872" cy="237744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43784" y="437083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05656" y="4370832"/>
            <a:ext cx="1261872" cy="237744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05656" y="437083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67528" y="4370832"/>
            <a:ext cx="1261872" cy="237744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67528" y="437083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608576"/>
            <a:ext cx="1261872" cy="237744"/>
          </a:xfrm>
          <a:prstGeom prst="rect">
            <a:avLst/>
          </a:prstGeom>
          <a:solidFill>
            <a:srgbClr val="1C285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60857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581912" y="4608576"/>
            <a:ext cx="1261872" cy="237744"/>
          </a:xfrm>
          <a:prstGeom prst="rect">
            <a:avLst/>
          </a:prstGeom>
          <a:solidFill>
            <a:srgbClr val="1C285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81912" y="460857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GB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843784" y="4608576"/>
            <a:ext cx="1261872" cy="237744"/>
          </a:xfrm>
          <a:prstGeom prst="rect">
            <a:avLst/>
          </a:prstGeom>
          <a:solidFill>
            <a:srgbClr val="1C285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460857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105656" y="4608576"/>
            <a:ext cx="1261872" cy="237744"/>
          </a:xfrm>
          <a:prstGeom prst="rect">
            <a:avLst/>
          </a:prstGeom>
          <a:solidFill>
            <a:srgbClr val="1C285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05656" y="460857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367528" y="4608576"/>
            <a:ext cx="1261872" cy="237744"/>
          </a:xfrm>
          <a:prstGeom prst="rect">
            <a:avLst/>
          </a:prstGeom>
          <a:solidFill>
            <a:srgbClr val="1C285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67528" y="460857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0040" y="4846320"/>
            <a:ext cx="1261872" cy="237744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484632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581912" y="4846320"/>
            <a:ext cx="1261872" cy="237744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581912" y="484632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GB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843784" y="4846320"/>
            <a:ext cx="1261872" cy="237744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43784" y="484632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105656" y="4846320"/>
            <a:ext cx="1261872" cy="237744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05656" y="484632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367528" y="4846320"/>
            <a:ext cx="1261872" cy="237744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67528" y="484632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629400" y="46085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6DF5"/>
                </a:solidFill>
              </a:rPr>
              <a:t>← selected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container_app.tf  —  Log Analytics · App Env · Container App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39BF5"/>
                </a:solidFill>
              </a:rPr>
              <a:t>container_app.tf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02920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429768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 Analytics Workspace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84632" y="1050646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"azurerm_log_analytics_workspace"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"main"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84632" y="1214323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sku               = "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PerGB2018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84632" y="1378001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retention_in_days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84632" y="1541678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84632" y="1705356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84632" y="1869034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Container App Environment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84632" y="2032711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"azurerm_container_app_environment"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"main"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84632" y="2196389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log_analytics_workspace_id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azurerm_log_analytics_workspace.main.id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84632" y="2360066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depends_on = [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azurerm_resource_provider_registration.app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84632" y="2523744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84632" y="2687422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84632" y="2851099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Container App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84632" y="3014777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"azurerm_container_app"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"main"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84632" y="3178454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revision_mode = "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84632" y="3342132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identity { type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"UserAssigned"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84632" y="3505810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 {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84632" y="3669487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min_replicas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max_replicas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84632" y="3833165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http_scale_rule {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84632" y="3996842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               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"http"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84632" y="4160520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concurrent_requests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84632" y="4324198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84632" y="4487875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 {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84632" y="4651553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image 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var.container_image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84632" y="4815230"/>
            <a:ext cx="47914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cpu   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memory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"1Gi"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303520" y="777240"/>
            <a:ext cx="365760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03520" y="777240"/>
            <a:ext cx="36576" cy="429768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68112" y="886968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env { name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"STORAGE_ACCOUNT_NAME"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468112" y="1050646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value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azurerm_storage_account.main.name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5468112" y="1214323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env { name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"STORAGE_CONTAINER_NAME"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5468112" y="1378001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value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azurerm_storage_container.cost_exports.name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5468112" y="1541678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env { name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"AZURE_CLIENT_ID"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5468112" y="1705356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value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azurerm_user_assigned_identity.main.client_id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5468112" y="1869034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env { name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"AZURE_SUBSCRIPTION_ID"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5468112" y="2032711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value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data.azurerm_client_config.current.subscription_id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5468112" y="2196389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env { name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"LIVE_CACHE_TTL_SECONDS"</a:t>
            </a:r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value = "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5468112" y="2360066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5468112" y="2523744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5468112" y="2687422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registry {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5468112" y="2851099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  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azurerm_container_registry.main.login_server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5468112" y="3014777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identity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azurerm_user_assigned_identity.main.id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5468112" y="3178454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5468112" y="3342132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ingress {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5468112" y="3505810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external_enabled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target_port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8000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5468112" y="3669487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traffic_weight { percentage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latest_revision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5468112" y="3833165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5468112" y="3996842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depends_on = [azurerm_role_assignment.storage_blob_reader,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5468112" y="4160520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azurerm_role_assignment.acr_pull]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5468112" y="4324198"/>
            <a:ext cx="3419856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container_app.tf  —  Design Decisions Deep Dive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39BF5"/>
                </a:solidFill>
              </a:rPr>
              <a:t>container_app.tf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19659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4114800" cy="274320"/>
          </a:xfrm>
          <a:prstGeom prst="rect">
            <a:avLst/>
          </a:prstGeom>
          <a:solidFill>
            <a:srgbClr val="1C2128"/>
          </a:solidFill>
          <a:ln w="12700">
            <a:solidFill>
              <a:srgbClr val="9F6D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64008" cy="1965960"/>
          </a:xfrm>
          <a:prstGeom prst="rect">
            <a:avLst/>
          </a:prstGeom>
          <a:solidFill>
            <a:srgbClr val="9F6DF5"/>
          </a:solidFill>
          <a:ln w="12700">
            <a:solidFill>
              <a:srgbClr val="9F6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59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min_replicas = 0  —  Scale to Zero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170432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 scales completely down when idle → zero cost when not accessed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latency ~2–5s (acceptable for internal dashboard, not for latency-sensitive APIs)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http_scale_rule: 10 concurrent_requests triggers scale-out to 1 replica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max_replicas = 1 → single instance; no horizontal scale needed for a dashboard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14800" cy="19659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822960"/>
            <a:ext cx="4114800" cy="274320"/>
          </a:xfrm>
          <a:prstGeom prst="rect">
            <a:avLst/>
          </a:prstGeom>
          <a:solidFill>
            <a:srgbClr val="1C2128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822960"/>
            <a:ext cx="64008" cy="1965960"/>
          </a:xfrm>
          <a:prstGeom prst="rect">
            <a:avLst/>
          </a:prstGeom>
          <a:solidFill>
            <a:srgbClr val="A5D6F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859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revision_mode = "Single"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19472" y="1170432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active revision at a time — new deployments atomically replace the old revision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"Multiple" if blue/green or canary rollouts are needed in the future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traffic_weight latest_revision = true → 100% traffic to the newest revision immediately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4114800" cy="19659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71800"/>
            <a:ext cx="4114800" cy="274320"/>
          </a:xfrm>
          <a:prstGeom prst="rect">
            <a:avLst/>
          </a:prstGeom>
          <a:solidFill>
            <a:srgbClr val="1C212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71800"/>
            <a:ext cx="64008" cy="196596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008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  —  Explicit Dependencies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3319272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 depends on storage_blob_reader + acr_pull role assignments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depends_on, Terraform might deploy the app before roles propagate to Azure AD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propagation can take 30–60 seconds; explicit dep ensures app starts with permissions already live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 Environment depends_on Microsoft.App registration — the provider must be registered first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114800" cy="19659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971800"/>
            <a:ext cx="4114800" cy="274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971800"/>
            <a:ext cx="64008" cy="19659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008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Variables  —  No Secrets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9472" y="3319272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env vars are resource references (not literals) → Terraform refreshes them automatically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AZURE_CLIENT_ID disambiguates which managed identity to use when multiple are attached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 strings, no SAS tokens, no service principal credentials ever written to state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cost_export.tf  —  Daily Billing Export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39BF5"/>
                </a:solidFill>
              </a:rPr>
              <a:t>cost_export.tf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30352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429768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"azurerm_subscription"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"current"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4632" y="1054303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221638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Azure Cost Management writes files under: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388974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&lt;root_folder&gt;/&lt;export-name&gt;/&lt;YYYYMMDD-YYYYMMDD&gt;/&lt;guid&gt;/&lt;file&gt;.csv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1556309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1723644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"azurerm_subscription_cost_management_export"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"daily"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1890979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= 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"${var.app_name}-daily-export"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2058314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subscription_id = 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data.azurerm_subscription.current.id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2225650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392985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recurrence_type             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560320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recurrence_period_start_date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2026-04-27T00:00:00Z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727655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recurrence_period_end_date  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2099-12-31T00:00:00Z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894990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file_format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62326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229661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export_data_storage_location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396996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container_id =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564331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"${azurerm_storage_account.main.id}/blobServices/default/containers/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3731666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${azurerm_storage_container.cost_exports.name}"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3899002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root_folder_path = 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var.app_name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066337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233672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" y="4401007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export_data_options {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" y="4568342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      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ActualCost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" y="4735678"/>
            <a:ext cx="506577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time_frame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MonthToDate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52160" y="822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 Path Anatomy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1188720"/>
            <a:ext cx="30175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9F6D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12252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azure-penny/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14630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</a:rPr>
              <a:t>root_folder_path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52160" y="1755648"/>
            <a:ext cx="30175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17922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azure-penny-daily-export/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0" y="20299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</a:rPr>
              <a:t>export name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52160" y="2322576"/>
            <a:ext cx="30175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23591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20260427-20260427/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2596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</a:rPr>
              <a:t>date range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52160" y="2889504"/>
            <a:ext cx="30175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a1b2c3d4.../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43600" y="31638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</a:rPr>
              <a:t>GUID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852160" y="3456432"/>
            <a:ext cx="30175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azure-penny_daily.csv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0" y="37307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</a:rPr>
              <a:t>file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52160" y="48006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</a:rPr>
              <a:t>storage.py in the app walks this tree to find all CSVs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budget_alert.tf  —  Dynamic Notification Block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39BF5"/>
                </a:solidFill>
              </a:rPr>
              <a:t>budget_alert.tf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5778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379476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"azurerm_monitor_action_group"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"budget_email"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4632" y="1056132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${var.app_name}-budget-ag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225296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short_name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budget-ag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394460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email_receiver { name = 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"michal-burdik"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email_address = 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"michal.burdik@gmail.com"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1563624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1732788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1901952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"azurerm_consumption_budget_subscription"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"alert_per_10usd"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2071116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${var.app_name}-per-10usd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2240280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          = 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var.budget_monthly_amount</a:t>
            </a:r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default $100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409444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time_grain     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578608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time_period {  start_date =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formatdate("YYYY-MM-01'T'00:00:00'Z'", timestamp())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747772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916936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Fire at 20%, 40%, 60%, 80%, 100% — Azure limits to 5 Actual notifications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86100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dynamic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"notification"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255264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for_each =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424428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{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593592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operator      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GreaterThanOrEqualTo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3762756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threshold      = 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notification.value</a:t>
            </a:r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20 / 40 / 60 / 80 / 100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3931920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threshold_type = 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101084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contact_groups = [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azurerm_monitor_action_group.budget_email.id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270248"/>
            <a:ext cx="534009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663440"/>
            <a:ext cx="5577840" cy="411480"/>
          </a:xfrm>
          <a:prstGeom prst="rect">
            <a:avLst/>
          </a:prstGeom>
          <a:solidFill>
            <a:srgbClr val="1A1040"/>
          </a:solidFill>
          <a:ln w="12700">
            <a:solidFill>
              <a:srgbClr val="9F6D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70916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Without dynamic: 5 repeated notification { } blocks. With dynamic, for_each = [20,40,60,80,100] expands at plan time.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777240"/>
            <a:ext cx="2834640" cy="4297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777240"/>
            <a:ext cx="2834640" cy="27432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813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Budget Alert Logic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0" y="1124712"/>
            <a:ext cx="26517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formatdate(..., timestamp()) → start_date = 1st of current month at apply time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time_grain = Monthly → budget resets on the 1st of each month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hard limit: max 5 Actual-type notifications per budget. [20,40,60,80,100] hits exactly 5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threshold_type = Actual → fires on real spend, not forecast. Use Forecasted for predictive alerts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contact_groups references action_group by .id → dependency implicit, no depends_on needed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budget_monthly_amount var default $100; override with -var='budget_monthly_amount=50'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  —  Post-Apply References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39BF5"/>
                </a:solidFill>
              </a:rPr>
              <a:t>outputs.tf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0292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384048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"resource_group_name"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1062533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azurerm_resource_group.main.name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1238098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" y="1413662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1589227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"storage_account_name"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1764792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azurerm_storage_account.main.name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1940357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azurepennyprodsa&lt;6chars&gt; — needed after apply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" y="2115922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2291486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" y="2467051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"acr_login_server"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" y="2642616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azurerm_container_registry.main.login_server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" y="2818181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azurepennyprodacr.azurecr.io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" y="2993746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" y="3169310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" y="3344875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"container_app_url"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" y="3520440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"https://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${azurerm_container_app.main.latest_revision_fqdn}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" y="3696005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" y="3871570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" y="4047134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"managed_identity_client_id"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" y="4222699"/>
            <a:ext cx="4791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azurerm_user_assigned_identity.main.client_id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 After Apply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5029200"/>
            <a:ext cx="50292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5029200"/>
            <a:ext cx="36576" cy="118872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5138928"/>
            <a:ext cx="4791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all outputs at once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" y="5310835"/>
            <a:ext cx="4791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 -json | jq 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" y="5482742"/>
            <a:ext cx="4791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" y="5654650"/>
            <a:ext cx="4791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Push image to ACR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" y="5826557"/>
            <a:ext cx="4791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ACR=$(terraform output -raw acr_login_server)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" y="5998464"/>
            <a:ext cx="4791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acr build -r $ACR -t azure-penny:v1 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77840" y="777240"/>
            <a:ext cx="3291840" cy="38404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777240"/>
            <a:ext cx="3291840" cy="27432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8138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Usage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69280" y="1124712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container_app_url → public HTTPS URL, open in browser after apply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acr_login_server → feed into docker build/push or CI pipeline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storage_account_name → needed if manually uploading test exports via az storage blob upload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managed_identity_client_id → set as AZURE_CLIENT_ID in .env for local dev with az login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= true outputs — nothing in state that needs masking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77840" y="4754880"/>
            <a:ext cx="3291840" cy="1417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77840" y="4754880"/>
            <a:ext cx="3291840" cy="27432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4791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CI/CD Pattern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69280" y="510235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output -raw container_app_url → smoke-test the deployment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acr_login_server to docker build step without hard-coding registry name</a:t>
            </a:r>
            <a:endParaRPr lang="en-US" sz="9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Chain: terraform apply → read outputs → docker push → update container_image var → terraform apply again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 Cheat Sheet  —  Day-to-Day Commands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1920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77240"/>
            <a:ext cx="54864" cy="19202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138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 (first time)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terraform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293876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472184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-out=tfplan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650492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tfplan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64408" y="777240"/>
            <a:ext cx="2743200" cy="1920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777240"/>
            <a:ext cx="2743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777240"/>
            <a:ext cx="54864" cy="1920240"/>
          </a:xfrm>
          <a:prstGeom prst="rect">
            <a:avLst/>
          </a:prstGeom>
          <a:solidFill>
            <a:srgbClr val="A5D6F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8138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Container Image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01568" y="1115568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ACR=$(terraform output -raw acr_login_server)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01568" y="1293876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acr build -r $ACR -t azure-penny:v1.2 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01568" y="1472184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-var 'container_image='$ACR'/azure-penny:v1.2'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08776" y="777240"/>
            <a:ext cx="2743200" cy="1920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777240"/>
            <a:ext cx="2743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8776" y="777240"/>
            <a:ext cx="54864" cy="1920240"/>
          </a:xfrm>
          <a:prstGeom prst="rect">
            <a:avLst/>
          </a:prstGeom>
          <a:solidFill>
            <a:srgbClr val="F2CC60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8138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Budget 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45936" y="1115568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-var='budget_monthly_amount=50'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45936" y="1293876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Re-apply only changes the budget threshold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45936" y="1472184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infra rebuild required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926080"/>
            <a:ext cx="2743200" cy="1920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926080"/>
            <a:ext cx="2743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926080"/>
            <a:ext cx="54864" cy="192024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626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Tear Down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264408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3442716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RG deletion is NOT prevented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621024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 backend (azure-penny-tfstate-rg)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3799332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must be deleted manually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64408" y="2926080"/>
            <a:ext cx="2743200" cy="1920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64408" y="2926080"/>
            <a:ext cx="2743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64408" y="2926080"/>
            <a:ext cx="54864" cy="192024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29626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 State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01568" y="3264408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list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01568" y="3442716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show azurerm_container_app.main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01568" y="3621024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 -json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08776" y="2926080"/>
            <a:ext cx="2743200" cy="1920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08776" y="2926080"/>
            <a:ext cx="2743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9F6D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08776" y="2926080"/>
            <a:ext cx="54864" cy="1920240"/>
          </a:xfrm>
          <a:prstGeom prst="rect">
            <a:avLst/>
          </a:prstGeom>
          <a:solidFill>
            <a:srgbClr val="9F6DF5"/>
          </a:solidFill>
          <a:ln w="12700">
            <a:solidFill>
              <a:srgbClr val="9F6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29626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6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Targeted Apply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45936" y="3264408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Re-deploy only the Container App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45936" y="3442716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-target=azurerm_container_app.main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45936" y="3621024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Refresh budget without full plan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45936" y="3799332"/>
            <a:ext cx="2487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-target=azurerm_consumption_budget_subscription.alert_per_10usd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azure-penny — Terraform Deep Dive</dc:title>
  <dc:subject>PptxGenJS Presentation</dc:subject>
  <dc:creator>Engineering</dc:creator>
  <cp:lastModifiedBy>Engineering</cp:lastModifiedBy>
  <cp:revision>1</cp:revision>
  <dcterms:created xsi:type="dcterms:W3CDTF">2026-04-27T09:27:15Z</dcterms:created>
  <dcterms:modified xsi:type="dcterms:W3CDTF">2026-04-27T09:27:15Z</dcterms:modified>
</cp:coreProperties>
</file>